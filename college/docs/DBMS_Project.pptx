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sentence: this is a college system where the database, not the Java code, owns the rules. Tell them you will show every concept live on the real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plain words. Pick one example per card from a real college. Ask the audience: how would you find out who changed a mark?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idea: Java never re-implements a rule. If a mark is invalid, Oracle refuses it. Numbers: 17 core tables, 7 functions, 10 stored procedures, 5 triggers, 4 views, 2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Stress: raw SQL through JdbcTemplate so every statement is visible, which suits a DBMS syllabus. Oracle runs in a Docker container started by run.sh.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example aloud: internal 33.4 out of 40, semester 49.2 out of 60, final 82.6, grade A+. The Marks page shows the Java and Oracle calculations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compound trigger. Row timing collects touched periods, statement timing builds one digest, which avoids the mutating table error. Demo: EXEC mark_attendance(1, 101, 'ABSENT') then SELECT from notification.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ER: department owns classes, subjects and students; marks link student, subject and assessment; result is derived from marks. Normalization: raw marks are the source of truth, the result table is controlled redundancy.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02 breaks every constraint on purpose and Oracle prints the error. Or DBMS Lab topics 3 to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03. One line per block. Anchor facts: student 109 fails, student 104 has low attendance, Rahul's CS302 raw marks are 35, 27, 48, 32, 24, 51, 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04. Function returns a value and works inside SELECT. Procedure performs an action and can hand back values through OUT parameters. Payroll check: Professor 80000, gross 104000, net 94400.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05 for commit, rollback, savepoint, DDL implicit commit. For isolation use two terminals: A updates without commit, B still reads the old value, B's own update waits until A rolls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06 for triggers and ./workout.sh 07 for cursors and exceptions. BEFORE triggers can stop a row, AFTER triggers react. :OLD and :NEW are the row before and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./workout.sh 08 for views and plans, ./workout.sh 09 logs in as college_student and college_faculty to prove GRANT and REVOKE. Tables are small, so the demo forces each plan with hints.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./reset-demo.sh before you start, never during the demo. Keep workout/out/*.txt from the rehearsal as backup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outcomes and invite questions. Offer to run any concept again from the DBMS Lab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DBMS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Academic Management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Marks, attendance, payroll and audit, with the rules enforced inside Oracle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Oracle PL/SQL  |  Spring Boot  |  React  |  32 DBMS concepts demonstrated live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Presented by Solomon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Academic records are manual and unchecked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4069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Problem badge 1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Problem badge 1 number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Marks by hand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56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Seven assessments per subject and a two-thirds formula. One slip changes a grade.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617720" y="1234440"/>
            <a:ext cx="4069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Problem badge 2"/>
          <p:cNvSpPr/>
          <p:nvPr/>
        </p:nvSpPr>
        <p:spPr>
          <a:xfrm>
            <a:off x="4800600" y="141732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Problem badge 2 number"/>
          <p:cNvSpPr txBox="1"/>
          <p:nvPr/>
        </p:nvSpPr>
        <p:spPr>
          <a:xfrm>
            <a:off x="4800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Attendance on paper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856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Low attendance is found at the end of term. Parents hear late, if at all.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2743200"/>
            <a:ext cx="4069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Problem badge 3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Problem badge 3 number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Payroll in spreadsheets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649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HRA, DA and PF are re-typed every month. A duplicate payslip goes unnoticed.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4617720" y="2743200"/>
            <a:ext cx="4069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Problem badge 4"/>
          <p:cNvSpPr/>
          <p:nvPr/>
        </p:nvSpPr>
        <p:spPr>
          <a:xfrm>
            <a:off x="4800600" y="29260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0" name="Problem badge 4 number"/>
          <p:cNvSpPr txBox="1"/>
          <p:nvPr/>
        </p:nvSpPr>
        <p:spPr>
          <a:xfrm>
            <a:off x="48006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audit trail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3649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Nobody can say who changed a mark, when, or what it was before.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Result: wrong grades, late alerts, no accountability.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Oracle database enforces the rules</a:t>
            </a:r>
            <a:endParaRPr lang="en-US" sz="3000" dirty="0"/>
          </a:p>
        </p:txBody>
      </p:sp>
      <p:sp>
        <p:nvSpPr>
          <p:cNvPr id="3" name="Solution card STORE"/>
          <p:cNvSpPr/>
          <p:nvPr/>
        </p:nvSpPr>
        <p:spPr>
          <a:xfrm>
            <a:off x="457200" y="118872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STORE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core tables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Primary, foreign, unique, not null and check constraints stop bad data at the source.</a:t>
            </a:r>
            <a:endParaRPr lang="en-US" sz="1300" dirty="0"/>
          </a:p>
        </p:txBody>
      </p:sp>
      <p:sp>
        <p:nvSpPr>
          <p:cNvPr id="8" name="Solution card CALCULATE"/>
          <p:cNvSpPr/>
          <p:nvPr/>
        </p:nvSpPr>
        <p:spPr>
          <a:xfrm>
            <a:off x="3246120" y="118872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CALCULATE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+ 10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functions + procedures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Internal and semester marks, grade, SGPA, CGPA, attendance and payroll run inside Oracle.</a:t>
            </a:r>
            <a:endParaRPr lang="en-US" sz="1300" dirty="0"/>
          </a:p>
        </p:txBody>
      </p:sp>
      <p:sp>
        <p:nvSpPr>
          <p:cNvPr id="13" name="Solution card PROTECT"/>
          <p:cNvSpPr/>
          <p:nvPr/>
        </p:nvSpPr>
        <p:spPr>
          <a:xfrm>
            <a:off x="6035040" y="118872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PROTECT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triggers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Validate marks, audit every change and alert parents when a student is absent.</a:t>
            </a:r>
            <a:endParaRPr lang="en-US" sz="1300" dirty="0"/>
          </a:p>
        </p:txBody>
      </p:sp>
      <p:sp>
        <p:nvSpPr>
          <p:cNvPr id="18" name="Pill 1"/>
          <p:cNvSpPr/>
          <p:nvPr/>
        </p:nvSpPr>
        <p:spPr>
          <a:xfrm>
            <a:off x="457200" y="4023360"/>
            <a:ext cx="90891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23360"/>
            <a:ext cx="908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views</a:t>
            </a:r>
            <a:endParaRPr lang="en-US" sz="1200" dirty="0"/>
          </a:p>
        </p:txBody>
      </p:sp>
      <p:sp>
        <p:nvSpPr>
          <p:cNvPr id="20" name="Pill 2"/>
          <p:cNvSpPr/>
          <p:nvPr/>
        </p:nvSpPr>
        <p:spPr>
          <a:xfrm>
            <a:off x="1503274" y="4023360"/>
            <a:ext cx="90891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3274" y="4023360"/>
            <a:ext cx="908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roles</a:t>
            </a:r>
            <a:endParaRPr lang="en-US" sz="1200" dirty="0"/>
          </a:p>
        </p:txBody>
      </p:sp>
      <p:sp>
        <p:nvSpPr>
          <p:cNvPr id="22" name="Pill 3"/>
          <p:cNvSpPr/>
          <p:nvPr/>
        </p:nvSpPr>
        <p:spPr>
          <a:xfrm>
            <a:off x="2549347" y="4023360"/>
            <a:ext cx="1329538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49347" y="4023360"/>
            <a:ext cx="1329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14 sequences</a:t>
            </a:r>
            <a:endParaRPr lang="en-US" sz="1200" dirty="0"/>
          </a:p>
        </p:txBody>
      </p:sp>
      <p:sp>
        <p:nvSpPr>
          <p:cNvPr id="24" name="Pill 4"/>
          <p:cNvSpPr/>
          <p:nvPr/>
        </p:nvSpPr>
        <p:spPr>
          <a:xfrm>
            <a:off x="4016045" y="4023360"/>
            <a:ext cx="1581912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16045" y="402336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audit_log table</a:t>
            </a:r>
            <a:endParaRPr lang="en-US" sz="1200" dirty="0"/>
          </a:p>
        </p:txBody>
      </p:sp>
      <p:sp>
        <p:nvSpPr>
          <p:cNvPr id="26" name="Pill 5"/>
          <p:cNvSpPr/>
          <p:nvPr/>
        </p:nvSpPr>
        <p:spPr>
          <a:xfrm>
            <a:off x="5735117" y="4023360"/>
            <a:ext cx="2339035" cy="384048"/>
          </a:xfrm>
          <a:prstGeom prst="roundRect">
            <a:avLst>
              <a:gd name="adj" fmla="val 4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35117" y="4023360"/>
            <a:ext cx="2339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32 of 32 syllabus topics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the app calls the database</a:t>
            </a:r>
            <a:endParaRPr lang="en-US" sz="3000" dirty="0"/>
          </a:p>
        </p:txBody>
      </p:sp>
      <p:sp>
        <p:nvSpPr>
          <p:cNvPr id="3" name="Arch box React"/>
          <p:cNvSpPr/>
          <p:nvPr/>
        </p:nvSpPr>
        <p:spPr>
          <a:xfrm>
            <a:off x="45720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Port 5173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Screens and forms</a:t>
            </a:r>
            <a:endParaRPr lang="en-US" sz="1200" dirty="0"/>
          </a:p>
        </p:txBody>
      </p:sp>
      <p:sp>
        <p:nvSpPr>
          <p:cNvPr id="7" name="Arch arrow 1"/>
          <p:cNvSpPr/>
          <p:nvPr/>
        </p:nvSpPr>
        <p:spPr>
          <a:xfrm>
            <a:off x="2194560" y="2057400"/>
            <a:ext cx="365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Arch box Spring Boot API"/>
          <p:cNvSpPr/>
          <p:nvPr/>
        </p:nvSpPr>
        <p:spPr>
          <a:xfrm>
            <a:off x="260604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Spring Boot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28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Port 8080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Controller, Service, Repository</a:t>
            </a:r>
            <a:endParaRPr lang="en-US" sz="1200" dirty="0"/>
          </a:p>
        </p:txBody>
      </p:sp>
      <p:sp>
        <p:nvSpPr>
          <p:cNvPr id="12" name="Arch arrow 2"/>
          <p:cNvSpPr/>
          <p:nvPr/>
        </p:nvSpPr>
        <p:spPr>
          <a:xfrm>
            <a:off x="4343400" y="2057400"/>
            <a:ext cx="365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Arch box JdbcTemplate"/>
          <p:cNvSpPr/>
          <p:nvPr/>
        </p:nvSpPr>
        <p:spPr>
          <a:xfrm>
            <a:off x="475488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JdbcTemplate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28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Raw SQL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? placeholders, no JPA</a:t>
            </a:r>
            <a:endParaRPr lang="en-US" sz="1200" dirty="0"/>
          </a:p>
        </p:txBody>
      </p:sp>
      <p:sp>
        <p:nvSpPr>
          <p:cNvPr id="17" name="Arch arrow 3"/>
          <p:cNvSpPr/>
          <p:nvPr/>
        </p:nvSpPr>
        <p:spPr>
          <a:xfrm>
            <a:off x="6492240" y="2057400"/>
            <a:ext cx="365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Arch box Oracle 23 Free"/>
          <p:cNvSpPr/>
          <p:nvPr/>
        </p:nvSpPr>
        <p:spPr>
          <a:xfrm>
            <a:off x="6903720" y="137160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9516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Oracle 23 Free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1828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FREEPDB1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Tables, PL/SQL, triggers</a:t>
            </a:r>
            <a:endParaRPr lang="en-US" sz="1200" dirty="0"/>
          </a:p>
        </p:txBody>
      </p:sp>
      <p:sp>
        <p:nvSpPr>
          <p:cNvPr id="22" name="Path card"/>
          <p:cNvSpPr/>
          <p:nvPr/>
        </p:nvSpPr>
        <p:spPr>
          <a:xfrm>
            <a:off x="457200" y="31089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 path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POST /api/marks, MarksController, MarksService, MarksRepository, SQL, trigger, function, result.</a:t>
            </a:r>
            <a:endParaRPr lang="en-US" sz="1300" dirty="0"/>
          </a:p>
        </p:txBody>
      </p:sp>
      <p:sp>
        <p:nvSpPr>
          <p:cNvPr id="25" name="Error card"/>
          <p:cNvSpPr/>
          <p:nvPr/>
        </p:nvSpPr>
        <p:spPr>
          <a:xfrm>
            <a:off x="4663440" y="31089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Errors come back as JSON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A layer field names who caught it: Java validation, Oracle constraint, Trigger or PL/SQL exception.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Workflow: from raw mark to grade</a:t>
            </a:r>
            <a:endParaRPr lang="en-US" sz="3000" dirty="0"/>
          </a:p>
        </p:txBody>
      </p:sp>
      <p:sp>
        <p:nvSpPr>
          <p:cNvPr id="3" name="Flow card 1"/>
          <p:cNvSpPr/>
          <p:nvPr/>
        </p:nvSpPr>
        <p:spPr>
          <a:xfrm>
            <a:off x="45720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Flow badge 1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Flow badge 1 number"/>
          <p:cNvSpPr txBox="1"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Raw marks for ASG, CT and CAT, twice, plus the semester exam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2011680" y="2194560"/>
            <a:ext cx="1143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Flow card 2"/>
          <p:cNvSpPr/>
          <p:nvPr/>
        </p:nvSpPr>
        <p:spPr>
          <a:xfrm>
            <a:off x="212598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Flow badge 2"/>
          <p:cNvSpPr/>
          <p:nvPr/>
        </p:nvSpPr>
        <p:spPr>
          <a:xfrm>
            <a:off x="226314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Flow badge 2 number"/>
          <p:cNvSpPr txBox="1"/>
          <p:nvPr/>
        </p:nvSpPr>
        <p:spPr>
          <a:xfrm>
            <a:off x="22631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6314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63140" y="21488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Java checks first, then the BEFORE trigger checks the maximum</a:t>
            </a:r>
            <a:endParaRPr lang="en-US" sz="1200" dirty="0"/>
          </a:p>
        </p:txBody>
      </p:sp>
      <p:sp>
        <p:nvSpPr>
          <p:cNvPr id="14" name="Flow arrow 2"/>
          <p:cNvSpPr/>
          <p:nvPr/>
        </p:nvSpPr>
        <p:spPr>
          <a:xfrm>
            <a:off x="3680460" y="2194560"/>
            <a:ext cx="1143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low card 3"/>
          <p:cNvSpPr/>
          <p:nvPr/>
        </p:nvSpPr>
        <p:spPr>
          <a:xfrm>
            <a:off x="379476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Flow badge 3"/>
          <p:cNvSpPr/>
          <p:nvPr/>
        </p:nvSpPr>
        <p:spPr>
          <a:xfrm>
            <a:off x="393192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7" name="Flow badge 3 number"/>
          <p:cNvSpPr txBox="1"/>
          <p:nvPr/>
        </p:nvSpPr>
        <p:spPr>
          <a:xfrm>
            <a:off x="3931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1488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Functions give internal out of 40 and semester out of 60</a:t>
            </a:r>
            <a:endParaRPr lang="en-US" sz="1200" dirty="0"/>
          </a:p>
        </p:txBody>
      </p:sp>
      <p:sp>
        <p:nvSpPr>
          <p:cNvPr id="20" name="Flow arrow 3"/>
          <p:cNvSpPr/>
          <p:nvPr/>
        </p:nvSpPr>
        <p:spPr>
          <a:xfrm>
            <a:off x="5349240" y="2194560"/>
            <a:ext cx="1143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Flow card 4"/>
          <p:cNvSpPr/>
          <p:nvPr/>
        </p:nvSpPr>
        <p:spPr>
          <a:xfrm>
            <a:off x="546354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Flow badge 4"/>
          <p:cNvSpPr/>
          <p:nvPr/>
        </p:nvSpPr>
        <p:spPr>
          <a:xfrm>
            <a:off x="560070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3" name="Flow badge 4 number"/>
          <p:cNvSpPr txBox="1"/>
          <p:nvPr/>
        </p:nvSpPr>
        <p:spPr>
          <a:xfrm>
            <a:off x="56007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0070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00700" y="21488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Procedure MERGEs the row into RESULT with grade and points</a:t>
            </a:r>
            <a:endParaRPr lang="en-US" sz="1200" dirty="0"/>
          </a:p>
        </p:txBody>
      </p:sp>
      <p:sp>
        <p:nvSpPr>
          <p:cNvPr id="26" name="Flow arrow 4"/>
          <p:cNvSpPr/>
          <p:nvPr/>
        </p:nvSpPr>
        <p:spPr>
          <a:xfrm>
            <a:off x="7018020" y="2194560"/>
            <a:ext cx="1143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Flow card 5"/>
          <p:cNvSpPr/>
          <p:nvPr/>
        </p:nvSpPr>
        <p:spPr>
          <a:xfrm>
            <a:off x="7132320" y="118872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Flow badge 5"/>
          <p:cNvSpPr/>
          <p:nvPr/>
        </p:nvSpPr>
        <p:spPr>
          <a:xfrm>
            <a:off x="726948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9" name="Flow badge 5 number"/>
          <p:cNvSpPr txBox="1"/>
          <p:nvPr/>
        </p:nvSpPr>
        <p:spPr>
          <a:xfrm>
            <a:off x="72694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21488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Views serve grade, SGPA and CGPA to every screen</a:t>
            </a:r>
            <a:endParaRPr lang="en-US" sz="1200" dirty="0"/>
          </a:p>
        </p:txBody>
      </p:sp>
      <p:sp>
        <p:nvSpPr>
          <p:cNvPr id="32" name="Worked example panel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Rahul, CS302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33.4 + 49.2 = 82.6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Rounds to 83, grade A+, grade point 9. Java and Oracle give the same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Workflow: from absence to alert</a:t>
            </a:r>
            <a:endParaRPr lang="en-US" sz="3000" dirty="0"/>
          </a:p>
        </p:txBody>
      </p:sp>
      <p:sp>
        <p:nvSpPr>
          <p:cNvPr id="3" name="Alert step 1"/>
          <p:cNvSpPr/>
          <p:nvPr/>
        </p:nvSpPr>
        <p:spPr>
          <a:xfrm>
            <a:off x="457200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Advisor marks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student ABSENT</a:t>
            </a:r>
            <a:endParaRPr lang="en-US" sz="1200" dirty="0"/>
          </a:p>
        </p:txBody>
      </p:sp>
      <p:sp>
        <p:nvSpPr>
          <p:cNvPr id="6" name="Alert arrow 1"/>
          <p:cNvSpPr/>
          <p:nvPr/>
        </p:nvSpPr>
        <p:spPr>
          <a:xfrm>
            <a:off x="1892808" y="2423160"/>
            <a:ext cx="329184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Alert step 2"/>
          <p:cNvSpPr/>
          <p:nvPr/>
        </p:nvSpPr>
        <p:spPr>
          <a:xfrm>
            <a:off x="2240280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attendance_record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row inserted or updated</a:t>
            </a:r>
            <a:endParaRPr lang="en-US" sz="1200" dirty="0"/>
          </a:p>
        </p:txBody>
      </p:sp>
      <p:sp>
        <p:nvSpPr>
          <p:cNvPr id="10" name="Alert arrow 2"/>
          <p:cNvSpPr/>
          <p:nvPr/>
        </p:nvSpPr>
        <p:spPr>
          <a:xfrm>
            <a:off x="3675888" y="2423160"/>
            <a:ext cx="329184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Alert step 3"/>
          <p:cNvSpPr/>
          <p:nvPr/>
        </p:nvSpPr>
        <p:spPr>
          <a:xfrm>
            <a:off x="4023360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Compound trigger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fires on ABSENT</a:t>
            </a:r>
            <a:endParaRPr lang="en-US" sz="1200" dirty="0"/>
          </a:p>
        </p:txBody>
      </p:sp>
      <p:sp>
        <p:nvSpPr>
          <p:cNvPr id="14" name="Branch arrow top"/>
          <p:cNvSpPr/>
          <p:nvPr/>
        </p:nvSpPr>
        <p:spPr>
          <a:xfrm>
            <a:off x="5486400" y="1965960"/>
            <a:ext cx="25603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Branch arrow bottom"/>
          <p:cNvSpPr/>
          <p:nvPr/>
        </p:nvSpPr>
        <p:spPr>
          <a:xfrm>
            <a:off x="5486400" y="2834640"/>
            <a:ext cx="25603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Parent alert card"/>
          <p:cNvSpPr/>
          <p:nvPr/>
        </p:nvSpPr>
        <p:spPr>
          <a:xfrm>
            <a:off x="5806440" y="155448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notify_absence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One SMS row per absent student, for the parent</a:t>
            </a:r>
            <a:endParaRPr lang="en-US" sz="1300" dirty="0"/>
          </a:p>
        </p:txBody>
      </p:sp>
      <p:sp>
        <p:nvSpPr>
          <p:cNvPr id="19" name="Advisor alert card"/>
          <p:cNvSpPr/>
          <p:nvPr/>
        </p:nvSpPr>
        <p:spPr>
          <a:xfrm>
            <a:off x="5806440" y="265176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notify_period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One e-mail digest per period listing all absentees</a:t>
            </a:r>
            <a:endParaRPr lang="en-US" sz="1300" dirty="0"/>
          </a:p>
        </p:txBody>
      </p:sp>
      <p:sp>
        <p:nvSpPr>
          <p:cNvPr id="22" name="Delivery 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Rows wait in notification as PENDING. A notifier service polls every 3 seconds and sends them. Unique indexes make repeated marking harmless.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Any program that marks ABSENT triggers it, including plain 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Database design: ER model and normalization</a:t>
            </a:r>
            <a:endParaRPr lang="en-US" sz="3000" dirty="0"/>
          </a:p>
        </p:txBody>
      </p:sp>
      <p:sp>
        <p:nvSpPr>
          <p:cNvPr id="3" name="ER link 1"/>
          <p:cNvSpPr/>
          <p:nvPr/>
        </p:nvSpPr>
        <p:spPr>
          <a:xfrm flipV="1">
            <a:off x="1143000" y="1691640"/>
            <a:ext cx="178308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4" name="ER link 2"/>
          <p:cNvSpPr/>
          <p:nvPr/>
        </p:nvSpPr>
        <p:spPr>
          <a:xfrm>
            <a:off x="2926080" y="1691640"/>
            <a:ext cx="178308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ER link 3"/>
          <p:cNvSpPr/>
          <p:nvPr/>
        </p:nvSpPr>
        <p:spPr>
          <a:xfrm>
            <a:off x="1143000" y="2606040"/>
            <a:ext cx="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6" name="ER link 4"/>
          <p:cNvSpPr/>
          <p:nvPr/>
        </p:nvSpPr>
        <p:spPr>
          <a:xfrm>
            <a:off x="1828800" y="3268980"/>
            <a:ext cx="4114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ER link 5"/>
          <p:cNvSpPr/>
          <p:nvPr/>
        </p:nvSpPr>
        <p:spPr>
          <a:xfrm>
            <a:off x="3611880" y="3268980"/>
            <a:ext cx="4114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ER link 6"/>
          <p:cNvSpPr/>
          <p:nvPr/>
        </p:nvSpPr>
        <p:spPr>
          <a:xfrm>
            <a:off x="4709160" y="2606040"/>
            <a:ext cx="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9" name="ER link 7"/>
          <p:cNvSpPr/>
          <p:nvPr/>
        </p:nvSpPr>
        <p:spPr>
          <a:xfrm>
            <a:off x="1143000" y="3520440"/>
            <a:ext cx="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0" name="ER link 8"/>
          <p:cNvSpPr/>
          <p:nvPr/>
        </p:nvSpPr>
        <p:spPr>
          <a:xfrm>
            <a:off x="2926080" y="3520440"/>
            <a:ext cx="0" cy="4114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Entity department"/>
          <p:cNvSpPr/>
          <p:nvPr/>
        </p:nvSpPr>
        <p:spPr>
          <a:xfrm>
            <a:off x="2240280" y="11887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department</a:t>
            </a:r>
            <a:endParaRPr lang="en-US" sz="1200" dirty="0"/>
          </a:p>
        </p:txBody>
      </p:sp>
      <p:sp>
        <p:nvSpPr>
          <p:cNvPr id="13" name="Entity class"/>
          <p:cNvSpPr/>
          <p:nvPr/>
        </p:nvSpPr>
        <p:spPr>
          <a:xfrm>
            <a:off x="457200" y="21031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class</a:t>
            </a:r>
            <a:endParaRPr lang="en-US" sz="1200" dirty="0"/>
          </a:p>
        </p:txBody>
      </p:sp>
      <p:sp>
        <p:nvSpPr>
          <p:cNvPr id="15" name="Entity subject"/>
          <p:cNvSpPr/>
          <p:nvPr/>
        </p:nvSpPr>
        <p:spPr>
          <a:xfrm>
            <a:off x="4023360" y="21031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subject</a:t>
            </a:r>
            <a:endParaRPr lang="en-US" sz="1200" dirty="0"/>
          </a:p>
        </p:txBody>
      </p:sp>
      <p:sp>
        <p:nvSpPr>
          <p:cNvPr id="17" name="Entity student"/>
          <p:cNvSpPr/>
          <p:nvPr/>
        </p:nvSpPr>
        <p:spPr>
          <a:xfrm>
            <a:off x="457200" y="30175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student</a:t>
            </a:r>
            <a:endParaRPr lang="en-US" sz="1200" dirty="0"/>
          </a:p>
        </p:txBody>
      </p:sp>
      <p:sp>
        <p:nvSpPr>
          <p:cNvPr id="19" name="Entity marks"/>
          <p:cNvSpPr/>
          <p:nvPr/>
        </p:nvSpPr>
        <p:spPr>
          <a:xfrm>
            <a:off x="2240280" y="30175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marks</a:t>
            </a:r>
            <a:endParaRPr lang="en-US" sz="1200" dirty="0"/>
          </a:p>
        </p:txBody>
      </p:sp>
      <p:sp>
        <p:nvSpPr>
          <p:cNvPr id="21" name="Entity assessment"/>
          <p:cNvSpPr/>
          <p:nvPr/>
        </p:nvSpPr>
        <p:spPr>
          <a:xfrm>
            <a:off x="4023360" y="30175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assessment</a:t>
            </a:r>
            <a:endParaRPr lang="en-US" sz="1200" dirty="0"/>
          </a:p>
        </p:txBody>
      </p:sp>
      <p:sp>
        <p:nvSpPr>
          <p:cNvPr id="23" name="Entity attendance"/>
          <p:cNvSpPr/>
          <p:nvPr/>
        </p:nvSpPr>
        <p:spPr>
          <a:xfrm>
            <a:off x="457200" y="3931920"/>
            <a:ext cx="13716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attendance_record</a:t>
            </a:r>
            <a:endParaRPr lang="en-US" sz="1200" dirty="0"/>
          </a:p>
        </p:txBody>
      </p:sp>
      <p:sp>
        <p:nvSpPr>
          <p:cNvPr id="25" name="Entity result"/>
          <p:cNvSpPr/>
          <p:nvPr/>
        </p:nvSpPr>
        <p:spPr>
          <a:xfrm>
            <a:off x="2240280" y="3931920"/>
            <a:ext cx="1371600" cy="50292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4028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Each line is a foreign key. Also: faculty, class_subject, employee, salary_rule, payroll, audit_log.</a:t>
            </a:r>
            <a:endParaRPr lang="en-US" sz="1000" dirty="0"/>
          </a:p>
        </p:txBody>
      </p:sp>
      <p:sp>
        <p:nvSpPr>
          <p:cNvPr id="28" name="Normalization card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Normalization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1691640"/>
            <a:ext cx="2606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1NF: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one value in every column.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2NF: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marks is keyed by student, subject, assessment and holds only raw_marks.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3NF: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HRA, DA and PF percentages live in salary_rule, not in every employee row.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 purpose: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result stores calculated values for fast reports.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Constraints keep bad data out</a:t>
            </a:r>
            <a:endParaRPr lang="en-US" sz="3000" dirty="0"/>
          </a:p>
        </p:txBody>
      </p:sp>
      <p:graphicFrame>
        <p:nvGraphicFramePr>
          <p:cNvPr id="9" name="Constrai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answers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student_id, dept_id and one key per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ORA-00001 PK_DEPARTMENT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student.dept_id must exist in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ORA-02291 parent key not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e-mail, department code, payroll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ORA-00001 UQ_STUDENT_EMAIL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names, e-mails, salaries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ORA-01400 cannot insert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pattern, credits 1 to 6, net pay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ORA-02290 CHK_PAYROLL_NET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department with students cannot be deleted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ORA-02292 child record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nstraint note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ON DELETE CASCADE: deleting an attendance session removes its records. Java validates first for friendly messages, Oracle is the last line of defence.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SQL queries answer real academic questions</a:t>
            </a:r>
            <a:endParaRPr lang="en-US" sz="3000" dirty="0"/>
          </a:p>
        </p:txBody>
      </p:sp>
      <p:graphicFrame>
        <p:nvGraphicFramePr>
          <p:cNvPr id="10" name="Quer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30175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search and filters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 LIKE 'R%'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counts and payroll totals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AVG(final_mark), SUM(net)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mark per 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subject_code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attendance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 pct &lt; 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students or low 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UNION, INTERSECT, MINUS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with student and subject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inner, left, right, cross, six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above the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scalar, IN, EXISTS, correlated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WHERE filters rows before grouping. HAVING filters groups after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PL/SQL: functions and procedures</a:t>
            </a:r>
            <a:endParaRPr lang="en-US" sz="30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188720"/>
            <a:ext cx="42062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Function: internal mark out of 40</a:t>
            </a:r>
            <a:endParaRPr lang="en-US" sz="1600" dirty="0"/>
          </a:p>
        </p:txBody>
      </p:sp>
      <p:sp>
        <p:nvSpPr>
          <p:cNvPr id="5" name="Formula row 1"/>
          <p:cNvSpPr/>
          <p:nvPr/>
        </p:nvSpPr>
        <p:spPr>
          <a:xfrm>
            <a:off x="640080" y="1783080"/>
            <a:ext cx="3840480" cy="411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35 + (27 + 48) x 2/3 = 85</a:t>
            </a:r>
            <a:endParaRPr lang="en-US" sz="1300" dirty="0"/>
          </a:p>
        </p:txBody>
      </p:sp>
      <p:sp>
        <p:nvSpPr>
          <p:cNvPr id="8" name="Formula row 2"/>
          <p:cNvSpPr/>
          <p:nvPr/>
        </p:nvSpPr>
        <p:spPr>
          <a:xfrm>
            <a:off x="640080" y="2286000"/>
            <a:ext cx="3840480" cy="411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Part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32 + (24 + 51) x 2/3 = 82</a:t>
            </a:r>
            <a:endParaRPr lang="en-US" sz="1300" dirty="0"/>
          </a:p>
        </p:txBody>
      </p:sp>
      <p:sp>
        <p:nvSpPr>
          <p:cNvPr id="11" name="Formula row 3"/>
          <p:cNvSpPr/>
          <p:nvPr/>
        </p:nvSpPr>
        <p:spPr>
          <a:xfrm>
            <a:off x="640080" y="2788920"/>
            <a:ext cx="3840480" cy="411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88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Internal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(85 + 82) / 5 = 33.4</a:t>
            </a:r>
            <a:endParaRPr lang="en-US" sz="1300" dirty="0"/>
          </a:p>
        </p:txBody>
      </p:sp>
      <p:sp>
        <p:nvSpPr>
          <p:cNvPr id="14" name="Formula row 4"/>
          <p:cNvSpPr/>
          <p:nvPr/>
        </p:nvSpPr>
        <p:spPr>
          <a:xfrm>
            <a:off x="640080" y="3291840"/>
            <a:ext cx="3840480" cy="411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918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Semester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82 x 0.6 = 49.2</a:t>
            </a:r>
            <a:endParaRPr lang="en-US" sz="1300" dirty="0"/>
          </a:p>
        </p:txBody>
      </p:sp>
      <p:sp>
        <p:nvSpPr>
          <p:cNvPr id="17" name="Formula row 5"/>
          <p:cNvSpPr/>
          <p:nvPr/>
        </p:nvSpPr>
        <p:spPr>
          <a:xfrm>
            <a:off x="640080" y="3794760"/>
            <a:ext cx="3840480" cy="41148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947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82.6, grade A+</a:t>
            </a:r>
            <a:endParaRPr lang="en-US" sz="1300" dirty="0"/>
          </a:p>
        </p:txBody>
      </p:sp>
      <p:sp>
        <p:nvSpPr>
          <p:cNvPr id="20" name="Procedure card"/>
          <p:cNvSpPr/>
          <p:nvPr/>
        </p:nvSpPr>
        <p:spPr>
          <a:xfrm>
            <a:off x="4846320" y="118872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Procedures: do the work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173736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calculate_student_result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uses the functions, then MERGE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generate_payroll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OUT parameter returns the payroll id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mark_attendance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insert or update in one statement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Errors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RAISE_APPLICATION_ERROR -20010 to -20030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Transactions and ACID</a:t>
            </a:r>
            <a:endParaRPr lang="en-US" sz="3000" dirty="0"/>
          </a:p>
        </p:txBody>
      </p:sp>
      <p:sp>
        <p:nvSpPr>
          <p:cNvPr id="3" name="Txn step 1"/>
          <p:cNvSpPr/>
          <p:nvPr/>
        </p:nvSpPr>
        <p:spPr>
          <a:xfrm>
            <a:off x="457200" y="123444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CT1 = 28</a:t>
            </a:r>
            <a:endParaRPr lang="en-US" sz="1200" dirty="0"/>
          </a:p>
        </p:txBody>
      </p:sp>
      <p:sp>
        <p:nvSpPr>
          <p:cNvPr id="6" name="Txn arrow 1"/>
          <p:cNvSpPr/>
          <p:nvPr/>
        </p:nvSpPr>
        <p:spPr>
          <a:xfrm>
            <a:off x="1938528" y="1664208"/>
            <a:ext cx="1828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Txn step 2"/>
          <p:cNvSpPr/>
          <p:nvPr/>
        </p:nvSpPr>
        <p:spPr>
          <a:xfrm>
            <a:off x="2125980" y="123444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170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SAVEPOINT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7170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after_ct1</a:t>
            </a:r>
            <a:endParaRPr lang="en-US" sz="1200" dirty="0"/>
          </a:p>
        </p:txBody>
      </p:sp>
      <p:sp>
        <p:nvSpPr>
          <p:cNvPr id="10" name="Txn arrow 2"/>
          <p:cNvSpPr/>
          <p:nvPr/>
        </p:nvSpPr>
        <p:spPr>
          <a:xfrm>
            <a:off x="3607308" y="1664208"/>
            <a:ext cx="1828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xn step 3"/>
          <p:cNvSpPr/>
          <p:nvPr/>
        </p:nvSpPr>
        <p:spPr>
          <a:xfrm>
            <a:off x="3794760" y="123444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CT2 = 29</a:t>
            </a:r>
            <a:endParaRPr lang="en-US" sz="1200" dirty="0"/>
          </a:p>
        </p:txBody>
      </p:sp>
      <p:sp>
        <p:nvSpPr>
          <p:cNvPr id="14" name="Txn arrow 3"/>
          <p:cNvSpPr/>
          <p:nvPr/>
        </p:nvSpPr>
        <p:spPr>
          <a:xfrm>
            <a:off x="5276088" y="1664208"/>
            <a:ext cx="1828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Txn step 4"/>
          <p:cNvSpPr/>
          <p:nvPr/>
        </p:nvSpPr>
        <p:spPr>
          <a:xfrm>
            <a:off x="5463540" y="123444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926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ROLLBACK 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0926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after_ct1</a:t>
            </a:r>
            <a:endParaRPr lang="en-US" sz="1200" dirty="0"/>
          </a:p>
        </p:txBody>
      </p:sp>
      <p:sp>
        <p:nvSpPr>
          <p:cNvPr id="18" name="Txn arrow 4"/>
          <p:cNvSpPr/>
          <p:nvPr/>
        </p:nvSpPr>
        <p:spPr>
          <a:xfrm>
            <a:off x="6944868" y="1664208"/>
            <a:ext cx="1828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xn step 5"/>
          <p:cNvSpPr/>
          <p:nvPr/>
        </p:nvSpPr>
        <p:spPr>
          <a:xfrm>
            <a:off x="7132320" y="123444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COMMIT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CT1 kept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CT2 returns to 24 after the partial rollback. CT1 stays at 28 until the final ROLLBACK or COMMIT.</a:t>
            </a:r>
            <a:endParaRPr lang="en-US" sz="1300" dirty="0"/>
          </a:p>
        </p:txBody>
      </p:sp>
      <p:sp>
        <p:nvSpPr>
          <p:cNvPr id="23" name="ACID card A"/>
          <p:cNvSpPr/>
          <p:nvPr/>
        </p:nvSpPr>
        <p:spPr>
          <a:xfrm>
            <a:off x="457200" y="2743200"/>
            <a:ext cx="199339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ACID badge A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Atomicity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@Transactional rolls back every statement on error</a:t>
            </a:r>
            <a:endParaRPr lang="en-US" sz="1300" dirty="0"/>
          </a:p>
        </p:txBody>
      </p:sp>
      <p:sp>
        <p:nvSpPr>
          <p:cNvPr id="28" name="ACID card C"/>
          <p:cNvSpPr/>
          <p:nvPr/>
        </p:nvSpPr>
        <p:spPr>
          <a:xfrm>
            <a:off x="2542032" y="2743200"/>
            <a:ext cx="199339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ACID badge C"/>
          <p:cNvSpPr/>
          <p:nvPr/>
        </p:nvSpPr>
        <p:spPr>
          <a:xfrm>
            <a:off x="2679192" y="288036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7919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227832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Consistency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79192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Constraints and triggers keep the rules true</a:t>
            </a:r>
            <a:endParaRPr lang="en-US" sz="1300" dirty="0"/>
          </a:p>
        </p:txBody>
      </p:sp>
      <p:sp>
        <p:nvSpPr>
          <p:cNvPr id="33" name="ACID card I"/>
          <p:cNvSpPr/>
          <p:nvPr/>
        </p:nvSpPr>
        <p:spPr>
          <a:xfrm>
            <a:off x="4626864" y="2743200"/>
            <a:ext cx="199339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ACID badge I"/>
          <p:cNvSpPr/>
          <p:nvPr/>
        </p:nvSpPr>
        <p:spPr>
          <a:xfrm>
            <a:off x="4764024" y="288036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64024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312664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Isolation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64024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Row locks: readers never wait, writers do</a:t>
            </a:r>
            <a:endParaRPr lang="en-US" sz="1300" dirty="0"/>
          </a:p>
        </p:txBody>
      </p:sp>
      <p:sp>
        <p:nvSpPr>
          <p:cNvPr id="38" name="ACID card D"/>
          <p:cNvSpPr/>
          <p:nvPr/>
        </p:nvSpPr>
        <p:spPr>
          <a:xfrm>
            <a:off x="6711696" y="2743200"/>
            <a:ext cx="199339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ACID badge D"/>
          <p:cNvSpPr/>
          <p:nvPr/>
        </p:nvSpPr>
        <p:spPr>
          <a:xfrm>
            <a:off x="6848856" y="288036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4885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397496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Durability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48856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COMMIT survives, DDL commits itself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Triggers, cursors and exceptions</a:t>
            </a:r>
            <a:endParaRPr lang="en-US" sz="3000" dirty="0"/>
          </a:p>
        </p:txBody>
      </p:sp>
      <p:sp>
        <p:nvSpPr>
          <p:cNvPr id="3" name="Concept card Triggers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Concept badge Triggers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Concept badge Triggers number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Triggers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BEFORE UPDATE rejects a mark above the maximum (ORA-20001)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AFTER INSERT, UPDATE, DELETE write old and new values to audit_log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Compound trigger queues the absence alerts</a:t>
            </a:r>
            <a:endParaRPr lang="en-US" sz="1400" dirty="0"/>
          </a:p>
        </p:txBody>
      </p:sp>
      <p:sp>
        <p:nvSpPr>
          <p:cNvPr id="8" name="Concept card Cursors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oncept badge Cursors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Concept badge Cursors number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Cursors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Implicit: SQL%FOUND and SQL%ROWCOUNT after every DML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Explicit: DECLARE, OPEN, FETCH, EXIT WHEN %NOTFOUND, CLOSE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Used by the department report with a parameter</a:t>
            </a:r>
            <a:endParaRPr lang="en-US" sz="1400" dirty="0"/>
          </a:p>
        </p:txBody>
      </p:sp>
      <p:sp>
        <p:nvSpPr>
          <p:cNvPr id="13" name="Concept card Exceptions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oncept badge Exceptions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Concept badge Exceptions number"/>
          <p:cNvSpPr txBox="1"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Exceptions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Predefined: NO_DATA_FOUND, TOO_MANY_ROWS, DUP_VAL_ON_INDEX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Non-predefined: PRAGMA EXCEPTION_INIT on -2291 and -2292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User-defined: your own ORA-20000 series errors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Views, indexes and access control</a:t>
            </a:r>
            <a:endParaRPr lang="en-US" sz="3000" dirty="0"/>
          </a:p>
        </p:txBody>
      </p:sp>
      <p:sp>
        <p:nvSpPr>
          <p:cNvPr id="3" name="Views card"/>
          <p:cNvSpPr/>
          <p:nvPr/>
        </p:nvSpPr>
        <p:spPr>
          <a:xfrm>
            <a:off x="457200" y="1188720"/>
            <a:ext cx="32918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Views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4 views: result, attendance, faculty subject and CGPA. student_result_view hides a four-table join. Grant the view, not the tables.</a:t>
            </a:r>
            <a:endParaRPr lang="en-US" sz="1300" dirty="0"/>
          </a:p>
        </p:txBody>
      </p:sp>
      <p:sp>
        <p:nvSpPr>
          <p:cNvPr id="6" name="Indexes card"/>
          <p:cNvSpPr/>
          <p:nvPr/>
        </p:nvSpPr>
        <p:spPr>
          <a:xfrm>
            <a:off x="457200" y="2926080"/>
            <a:ext cx="32918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Indexes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Primary and unique keys build their own. EXPLAIN PLAN shows TABLE ACCESS FULL against INDEX RANGE SCAN for the same query.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GRANT and REVOKE through roles</a:t>
            </a:r>
            <a:endParaRPr lang="en-US" sz="1600" dirty="0"/>
          </a:p>
        </p:txBody>
      </p:sp>
      <p:graphicFrame>
        <p:nvGraphicFramePr>
          <p:cNvPr id="14" name="Privile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554480"/>
          <a:ext cx="4754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INSERT,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student_result_view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student_attendance_view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9319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UPDATE on attendance_record was revoked. A student who selects from marks gets ORA-00942.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demo plan: 15 minutes</a:t>
            </a:r>
            <a:endParaRPr lang="en-US" sz="3000" dirty="0"/>
          </a:p>
        </p:txBody>
      </p:sp>
      <p:graphicFrame>
        <p:nvGraphicFramePr>
          <p:cNvPr id="15" name="Demo 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265176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student, bad e-mail, audit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DML, CHECK, triggers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./workout.sh 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FK, UNIQUE, NOT NULL,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and PL/SQL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./workout.sh 03, 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subqueries,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Transactions, triggers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./workout.sh 05, 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SAVEPOINT, audit,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Cursors, views, indexes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./workout.sh 07, 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cursors, exceptions, plans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locking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./workout.sh 09, two terminals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GRANT, REVOKE,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allback card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Fallback: the DBMS Lab page runs all 32 topics with one click each, and every run rolls 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Outcome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of 32 DBMS topics, in one working system</a:t>
            </a:r>
            <a:endParaRPr lang="en-US" sz="3400" dirty="0"/>
          </a:p>
        </p:txBody>
      </p:sp>
      <p:sp>
        <p:nvSpPr>
          <p:cNvPr id="4" name="Stat card 1"/>
          <p:cNvSpPr/>
          <p:nvPr/>
        </p:nvSpPr>
        <p:spPr>
          <a:xfrm>
            <a:off x="640080" y="22860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core tables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2606040" y="22860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functions</a:t>
            </a:r>
            <a:endParaRPr lang="en-US" sz="1300" dirty="0"/>
          </a:p>
        </p:txBody>
      </p:sp>
      <p:sp>
        <p:nvSpPr>
          <p:cNvPr id="10" name="Stat card 3"/>
          <p:cNvSpPr/>
          <p:nvPr/>
        </p:nvSpPr>
        <p:spPr>
          <a:xfrm>
            <a:off x="4572000" y="22860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triggers</a:t>
            </a:r>
            <a:endParaRPr lang="en-US" sz="1300" dirty="0"/>
          </a:p>
        </p:txBody>
      </p:sp>
      <p:sp>
        <p:nvSpPr>
          <p:cNvPr id="13" name="Stat card 4"/>
          <p:cNvSpPr/>
          <p:nvPr/>
        </p:nvSpPr>
        <p:spPr>
          <a:xfrm>
            <a:off x="6537960" y="22860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live topics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Rules live in the database. Every change is audited. Java and Oracle agree on every mark.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Next: real SMS gateway, backup and recovery plan, row-level security, load tests on larger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 Ledger">
  <a:themeElements>
    <a:clrScheme name="Mono Ledger">
      <a:dk1>
        <a:srgbClr val="111111"/>
      </a:dk1>
      <a:lt1>
        <a:srgbClr val="FFFFFF"/>
      </a:lt1>
      <a:dk2>
        <a:srgbClr val="444444"/>
      </a:dk2>
      <a:lt2>
        <a:srgbClr val="F2F2F2"/>
      </a:lt2>
      <a:accent1>
        <a:srgbClr val="222222"/>
      </a:accent1>
      <a:accent2>
        <a:srgbClr val="555555"/>
      </a:accent2>
      <a:accent3>
        <a:srgbClr val="888888"/>
      </a:accent3>
      <a:accent4>
        <a:srgbClr val="BBBBBB"/>
      </a:accent4>
      <a:accent5>
        <a:srgbClr val="DDDDDD"/>
      </a:accent5>
      <a:accent6>
        <a:srgbClr val="000000"/>
      </a:accent6>
      <a:hlink>
        <a:srgbClr val="222222"/>
      </a:hlink>
      <a:folHlink>
        <a:srgbClr val="555555"/>
      </a:folHlink>
    </a:clrScheme>
    <a:fontScheme name="Mono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Academic Management System: DBMS Project</dc:title>
  <dc:subject>PptxGenJS Presentation</dc:subject>
  <dc:creator>Solomon</dc:creator>
  <cp:lastModifiedBy>Solomon</cp:lastModifiedBy>
  <cp:revision>1</cp:revision>
  <dcterms:created xsi:type="dcterms:W3CDTF">2026-10-25T16:30:02Z</dcterms:created>
  <dcterms:modified xsi:type="dcterms:W3CDTF">2026-10-25T16:30:02Z</dcterms:modified>
</cp:coreProperties>
</file>